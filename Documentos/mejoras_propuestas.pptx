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ntserrat Bold" charset="1" panose="00000800000000000000"/>
      <p:regular r:id="rId12"/>
    </p:embeddedFont>
    <p:embeddedFont>
      <p:font typeface="Poppins" charset="1" panose="00000500000000000000"/>
      <p:regular r:id="rId13"/>
    </p:embeddedFont>
    <p:embeddedFont>
      <p:font typeface="Poppins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embeddings/oleObject3.bin" Type="http://schemas.openxmlformats.org/officeDocument/2006/relationships/oleObjec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29161"/>
            <a:ext cx="18288000" cy="10028679"/>
          </a:xfrm>
          <a:custGeom>
            <a:avLst/>
            <a:gdLst/>
            <a:ahLst/>
            <a:cxnLst/>
            <a:rect r="r" b="b" t="t" l="l"/>
            <a:pathLst>
              <a:path h="10028679" w="18288000">
                <a:moveTo>
                  <a:pt x="0" y="0"/>
                </a:moveTo>
                <a:lnTo>
                  <a:pt x="18288000" y="0"/>
                </a:lnTo>
                <a:lnTo>
                  <a:pt x="18288000" y="10028678"/>
                </a:lnTo>
                <a:lnTo>
                  <a:pt x="0" y="10028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t="0" r="-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17036" y="1549644"/>
            <a:ext cx="11053928" cy="141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Taller Práctico UML – Modelado de Procesos y Flujos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40678" y="3140954"/>
            <a:ext cx="8006644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Nick Alejandro Ortega Mendez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62609" y="6491203"/>
            <a:ext cx="834075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Modelos y Documentación de Software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04247" y="8648932"/>
            <a:ext cx="10679506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A6A6A6"/>
                </a:solidFill>
                <a:latin typeface="Poppins"/>
                <a:ea typeface="Poppins"/>
                <a:cs typeface="Poppins"/>
                <a:sym typeface="Poppins"/>
              </a:rPr>
              <a:t>Noviembre 11 de 2025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A6A6A6"/>
                </a:solidFill>
                <a:latin typeface="Poppins"/>
                <a:ea typeface="Poppins"/>
                <a:cs typeface="Poppins"/>
                <a:sym typeface="Poppins"/>
              </a:rPr>
              <a:t>Cúcuta, Norte de Santander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04247" y="7198593"/>
            <a:ext cx="1067950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A6A6A6"/>
                </a:solidFill>
                <a:latin typeface="Poppins Bold"/>
                <a:ea typeface="Poppins Bold"/>
                <a:cs typeface="Poppins Bold"/>
                <a:sym typeface="Poppins Bold"/>
              </a:rPr>
              <a:t>Fundación de Estudios Superiores Comfanorte (FESC)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73624" y="7941542"/>
            <a:ext cx="834075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A6A6A6"/>
                </a:solidFill>
                <a:latin typeface="Poppins"/>
                <a:ea typeface="Poppins"/>
                <a:cs typeface="Poppins"/>
                <a:sym typeface="Poppins"/>
              </a:rPr>
              <a:t>Modelos y Documentación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40678" y="4661779"/>
            <a:ext cx="8006644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Docente: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73624" y="5233591"/>
            <a:ext cx="8340752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Ing. Hely Suarez Marin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7160"/>
            <a:ext cx="18288000" cy="10028679"/>
          </a:xfrm>
          <a:custGeom>
            <a:avLst/>
            <a:gdLst/>
            <a:ahLst/>
            <a:cxnLst/>
            <a:rect r="r" b="b" t="t" l="l"/>
            <a:pathLst>
              <a:path h="10028679" w="18288000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t="0" r="-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72201" y="2131440"/>
            <a:ext cx="965959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DESCRIPCION DEL PROCESO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86810"/>
            <a:ext cx="16230600" cy="15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proceso de inscripción a cursos intersemestrales en la FESC fuemodelado bajo elenfoque UML de diagramas de actividades. Se identificaron cinco actores principales: Estudiante, Sistema Académico, Coordinación Académica, Tesorería y Docente.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99702" y="5075299"/>
            <a:ext cx="965959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79"/>
              </a:lnSpc>
            </a:pPr>
            <a:r>
              <a:rPr lang="en-US" sz="4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130669"/>
            <a:ext cx="16230600" cy="154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objetivo fue analizar el flujo AS-IS y proponer una versión TO-BE optimizada con validaciones automáticas, pagos en línea y notificaciones integradas.</a:t>
            </a:r>
          </a:p>
          <a:p>
            <a:pPr algn="r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8321"/>
            <a:ext cx="18288000" cy="10028679"/>
          </a:xfrm>
          <a:custGeom>
            <a:avLst/>
            <a:gdLst/>
            <a:ahLst/>
            <a:cxnLst/>
            <a:rect r="r" b="b" t="t" l="l"/>
            <a:pathLst>
              <a:path h="10028679" w="18288000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t="0" r="-7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74097" y="2493252"/>
            <a:ext cx="99398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4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VERSIÓN AS-IS – PROCESO ACTUAL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367647"/>
            <a:ext cx="16230600" cy="205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4" indent="-31305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Flujo manual con dependencias entre áreas.</a:t>
            </a:r>
          </a:p>
          <a:p>
            <a:pPr algn="just" marL="626114" indent="-31305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Validaciones y pagos realizados de forma secuencial.</a:t>
            </a:r>
          </a:p>
          <a:p>
            <a:pPr algn="just" marL="626114" indent="-31305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Comunicación y actualizaciones no automatizadas.</a:t>
            </a:r>
          </a:p>
          <a:p>
            <a:pPr algn="just" marL="626114" indent="-31305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Alta probabilidad de errores humanos y tiempos prolongados (2–3 días).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91021" y="5589511"/>
            <a:ext cx="1170595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4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VERSIÓN TO-BE – PROCESO OPTIMIZADO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463907"/>
            <a:ext cx="16230600" cy="257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14" indent="-31305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</a:t>
            </a: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lidaciones automáticas de prerrequisitos y cupos en tiempo real.</a:t>
            </a:r>
          </a:p>
          <a:p>
            <a:pPr algn="just" marL="626114" indent="-31305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Integración con pasarela de pago institucional.</a:t>
            </a:r>
          </a:p>
          <a:p>
            <a:pPr algn="just" marL="626114" indent="-31305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Notificación automática a docente y estudiante.</a:t>
            </a:r>
          </a:p>
          <a:p>
            <a:pPr algn="just" marL="626114" indent="-31305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Reducción del proceso a 15–30 minutos.</a:t>
            </a:r>
          </a:p>
          <a:p>
            <a:pPr algn="just" marL="626114" indent="-313057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Sistema académico sincronizado en línea.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8321"/>
            <a:ext cx="18288000" cy="10028679"/>
          </a:xfrm>
          <a:custGeom>
            <a:avLst/>
            <a:gdLst/>
            <a:ahLst/>
            <a:cxnLst/>
            <a:rect r="r" b="b" t="t" l="l"/>
            <a:pathLst>
              <a:path h="10028679" w="18288000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t="0" r="-79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28700" y="3474450"/>
          <a:ext cx="16230600" cy="3596421"/>
        </p:xfrm>
        <a:graphic>
          <a:graphicData uri="http://schemas.openxmlformats.org/presentationml/2006/ole">
            <p:oleObj imgW="19469100" imgH="68326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951605" y="634365"/>
            <a:ext cx="99398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4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MÉTRICAS DEL PROCESO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8321"/>
            <a:ext cx="18288000" cy="10028679"/>
          </a:xfrm>
          <a:custGeom>
            <a:avLst/>
            <a:gdLst/>
            <a:ahLst/>
            <a:cxnLst/>
            <a:rect r="r" b="b" t="t" l="l"/>
            <a:pathLst>
              <a:path h="10028679" w="18288000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t="0" r="-79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28700" y="3474450"/>
          <a:ext cx="16230600" cy="3596421"/>
        </p:xfrm>
        <a:graphic>
          <a:graphicData uri="http://schemas.openxmlformats.org/presentationml/2006/ole">
            <p:oleObj imgW="19469100" imgH="68326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951605" y="634365"/>
            <a:ext cx="99398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4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MÉTRICAS DEL PROCESO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58321"/>
            <a:ext cx="18288000" cy="10028679"/>
          </a:xfrm>
          <a:custGeom>
            <a:avLst/>
            <a:gdLst/>
            <a:ahLst/>
            <a:cxnLst/>
            <a:rect r="r" b="b" t="t" l="l"/>
            <a:pathLst>
              <a:path h="10028679" w="18288000">
                <a:moveTo>
                  <a:pt x="0" y="0"/>
                </a:moveTo>
                <a:lnTo>
                  <a:pt x="18288000" y="0"/>
                </a:lnTo>
                <a:lnTo>
                  <a:pt x="18288000" y="10028679"/>
                </a:lnTo>
                <a:lnTo>
                  <a:pt x="0" y="100286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" t="0" r="-79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28700" y="3474450"/>
          <a:ext cx="16230600" cy="3596421"/>
        </p:xfrm>
        <a:graphic>
          <a:graphicData uri="http://schemas.openxmlformats.org/presentationml/2006/ole">
            <p:oleObj imgW="19469100" imgH="68326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3951605" y="634365"/>
            <a:ext cx="993980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b="true" sz="4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MÉTRICAS DEL PROCESO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DAG4Yz2JepY</dc:identifier>
  <dcterms:modified xsi:type="dcterms:W3CDTF">2011-08-01T06:04:30Z</dcterms:modified>
  <cp:revision>1</cp:revision>
  <dc:title>Copia de Informe General de Actividades</dc:title>
</cp:coreProperties>
</file>